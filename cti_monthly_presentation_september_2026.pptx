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A52"/>
                </a:solidFill>
                <a:latin typeface="Arial"/>
              </a:defRPr>
            </a:pPr>
            <a:r>
              <a:t>BNP PARIBAS | GROUP CTI &amp; EMERGING TECH RISKS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SLIDE 1: CYBER RISK LANDSCAPE -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5400"/>
          </a:xfrm>
          <a:prstGeom prst="rect">
            <a:avLst/>
          </a:prstGeom>
          <a:solidFill>
            <a:srgbClr val="00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26517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65176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REMEDIATION PARADOX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2432304" cy="480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Georgia"/>
              </a:defRPr>
            </a:pPr>
            <a:r>
              <a:t>-7 Days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MEAN TIME TO EXPLOIT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Adversaries routinely exploit critical vulnerabilities a week before a formal vendor patch is released.</a:t>
            </a:r>
          </a:p>
          <a:p>
            <a:pPr>
              <a:spcBef>
                <a:spcPts val="600"/>
              </a:spcBef>
            </a:pPr>
          </a:p>
          <a:p>
            <a:pPr>
              <a:defRPr sz="1800" b="1">
                <a:solidFill>
                  <a:srgbClr val="DC2626"/>
                </a:solidFill>
                <a:latin typeface="Georgia"/>
              </a:defRPr>
            </a:pPr>
            <a:r>
              <a:t>43 Days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MEDIAN CORPORATE PATCH TIME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The average timeframe for financial institutions to remediate vulnerabilities expanded by 34% in 2026.</a:t>
            </a:r>
          </a:p>
          <a:p>
            <a:pPr>
              <a:spcBef>
                <a:spcPts val="600"/>
              </a:spcBef>
            </a:pPr>
          </a:p>
          <a:p>
            <a:pPr>
              <a:defRPr sz="1800" b="1">
                <a:solidFill>
                  <a:srgbClr val="DC2626"/>
                </a:solidFill>
                <a:latin typeface="Georgia"/>
              </a:defRPr>
            </a:pPr>
            <a:r>
              <a:t>31%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% OF CONFIRMED BREACHES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Vulnerability exploitation remains the primary initial access vector, surpassing traditional credential theft.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1234440"/>
            <a:ext cx="26517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28416" y="1234440"/>
            <a:ext cx="265176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EXTORTION 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1691640"/>
            <a:ext cx="2432304" cy="480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Georgia"/>
              </a:defRPr>
            </a:pPr>
            <a:r>
              <a:t>71%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YOY SPIKE IN FINANCIAL RANSOMWARE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Direct extortion campaigns against the financial sector surged sharply in 2026.</a:t>
            </a:r>
          </a:p>
          <a:p>
            <a:pPr>
              <a:spcBef>
                <a:spcPts val="600"/>
              </a:spcBef>
            </a:pPr>
          </a:p>
          <a:p>
            <a:pPr>
              <a:defRPr sz="1800" b="1">
                <a:solidFill>
                  <a:srgbClr val="D97706"/>
                </a:solidFill>
                <a:latin typeface="Georgia"/>
              </a:defRPr>
            </a:pPr>
            <a:r>
              <a:t>$ 6.08M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AVERAGE FINANCIAL BREACH COST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Banking data breaches significantly exceed the global multi-sector average cost of $4.99M.</a:t>
            </a:r>
          </a:p>
          <a:p>
            <a:pPr>
              <a:spcBef>
                <a:spcPts val="600"/>
              </a:spcBef>
            </a:pPr>
          </a:p>
          <a:p>
            <a:pPr>
              <a:defRPr sz="1200" b="1">
                <a:solidFill>
                  <a:srgbClr val="D97706"/>
                </a:solidFill>
                <a:latin typeface="Georgia"/>
              </a:defRPr>
            </a:pPr>
            <a:r>
              <a:t>WEAPONIZING REGULATORY COMPLIANCE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EXTORTION TACTICS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Extortion syndicates time public leak disclosures to pressure victims during strict DORA, SEC, or EBA reporting windows.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26517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234440"/>
            <a:ext cx="26517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SUPPLY CHAIN &amp; CONCENTRATION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2432304" cy="480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Georgia"/>
              </a:defRPr>
            </a:pPr>
            <a:r>
              <a:t>50.2%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VENDORS CARRYING HIGH RISKS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Over half of the financial vendor ecosystem harbors critical vulnerabilities, creating systemic contagion paths.</a:t>
            </a:r>
          </a:p>
          <a:p>
            <a:pPr>
              <a:spcBef>
                <a:spcPts val="600"/>
              </a:spcBef>
            </a:pPr>
          </a:p>
          <a:p>
            <a:pPr>
              <a:defRPr sz="1800" b="1">
                <a:solidFill>
                  <a:srgbClr val="2563EB"/>
                </a:solidFill>
                <a:latin typeface="Georgia"/>
              </a:defRPr>
            </a:pPr>
            <a:r>
              <a:t>29%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MAJOR DORA-REPORTED INCIDENTS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Nearly one-third of systemic operational disruptions stem from third-party ICT service provider failures.</a:t>
            </a:r>
          </a:p>
          <a:p>
            <a:pPr>
              <a:spcBef>
                <a:spcPts val="800"/>
              </a:spcBef>
            </a:p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91072" y="4800600"/>
          <a:ext cx="2468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"/>
                <a:gridCol w="594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Fin. Vendors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Arial"/>
                        </a:rPr>
                        <a:t>Critical Patch Failures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DC2626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F172A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Arial"/>
                        </a:rPr>
                        <a:t>Active KEV 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DC2626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F172A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9070848" y="1234440"/>
            <a:ext cx="26517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70848" y="1234440"/>
            <a:ext cx="2651760" cy="411480"/>
          </a:xfrm>
          <a:prstGeom prst="roundRect">
            <a:avLst/>
          </a:prstGeom>
          <a:solidFill>
            <a:srgbClr val="00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AUTONOMOUS THREATS (AGENTIC 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1691640"/>
            <a:ext cx="2432304" cy="480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8A52"/>
                </a:solidFill>
                <a:latin typeface="Georgia"/>
              </a:defRPr>
            </a:pPr>
            <a:r>
              <a:t>27 Sec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FASTEST BREAKOUT SPEED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Time from initial access to automated lateral movement collapsed due to autonomous AI orchestration.</a:t>
            </a:r>
          </a:p>
          <a:p>
            <a:pPr>
              <a:spcBef>
                <a:spcPts val="600"/>
              </a:spcBef>
            </a:pPr>
          </a:p>
          <a:p>
            <a:pPr>
              <a:defRPr sz="1800" b="1">
                <a:solidFill>
                  <a:srgbClr val="008A52"/>
                </a:solidFill>
                <a:latin typeface="Georgia"/>
              </a:defRPr>
            </a:pPr>
            <a:r>
              <a:t>43%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IMPACTED BY 'SHADOW AI'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Unmonitored employee AI usage adds an average of $670,000 in additional breach containment costs.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A52"/>
                </a:solidFill>
                <a:latin typeface="Arial"/>
              </a:defRPr>
            </a:pPr>
            <a:r>
              <a:t>BNP PARIBAS | GROUP CTI &amp; EMERGING TECH RISKS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SLIDE 2: CYBER CASE STUDY — NEPAL FINANCIAL INFRASTRUCTURE SHUTDOWN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5400"/>
          </a:xfrm>
          <a:prstGeom prst="rect">
            <a:avLst/>
          </a:prstGeom>
          <a:solidFill>
            <a:srgbClr val="00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86400" cy="384048"/>
          </a:xfrm>
          <a:prstGeom prst="roundRect">
            <a:avLst/>
          </a:prstGeom>
          <a:solidFill>
            <a:srgbClr val="00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INCIDENT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73352"/>
            <a:ext cx="52120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TARGET: </a:t>
            </a:r>
            <a:r>
              <a:rPr sz="1000">
                <a:solidFill>
                  <a:srgbClr val="64748B"/>
                </a:solidFill>
                <a:latin typeface="Arial"/>
              </a:rPr>
              <a:t>Nepal Stock Exchange &amp; Financial Infrastructure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DATE: </a:t>
            </a:r>
            <a:r>
              <a:rPr sz="1000">
                <a:solidFill>
                  <a:srgbClr val="64748B"/>
                </a:solidFill>
                <a:latin typeface="Arial"/>
              </a:rPr>
              <a:t>September 2026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THREAT ACTOR: </a:t>
            </a:r>
            <a:r>
              <a:rPr sz="1000">
                <a:solidFill>
                  <a:srgbClr val="64748B"/>
                </a:solidFill>
                <a:latin typeface="Arial"/>
              </a:rPr>
              <a:t>Unattributed Ransomware Syndicate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ATTACK TYPE: </a:t>
            </a:r>
            <a:r>
              <a:rPr sz="1000">
                <a:solidFill>
                  <a:srgbClr val="64748B"/>
                </a:solidFill>
                <a:latin typeface="Arial"/>
              </a:rPr>
              <a:t>Shared Data Center Disruption &amp; Systemic Extortion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3444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486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ATTACK CHAIN (KILL CHAIN)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673352"/>
            <a:ext cx="52120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DC2626"/>
                </a:solidFill>
                <a:latin typeface="Arial"/>
              </a:rPr>
              <a:t>I. Initial Access: </a:t>
            </a:r>
            <a:r>
              <a:rPr sz="950">
                <a:solidFill>
                  <a:srgbClr val="0F172A"/>
                </a:solidFill>
                <a:latin typeface="Arial"/>
              </a:rPr>
              <a:t>Exploited unpatched vulnerabilities in shared third-party data center.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2626"/>
                </a:solidFill>
                <a:latin typeface="Arial"/>
              </a:rPr>
              <a:t>II. Lateral Movement: </a:t>
            </a:r>
            <a:r>
              <a:rPr sz="950">
                <a:solidFill>
                  <a:srgbClr val="0F172A"/>
                </a:solidFill>
                <a:latin typeface="Arial"/>
              </a:rPr>
              <a:t>Pivoted across virtualized segments, compromising domain controllers.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2626"/>
                </a:solidFill>
                <a:latin typeface="Arial"/>
              </a:rPr>
              <a:t>III. Data Exfiltration: </a:t>
            </a:r>
            <a:r>
              <a:rPr sz="950">
                <a:solidFill>
                  <a:srgbClr val="0F172A"/>
                </a:solidFill>
                <a:latin typeface="Arial"/>
              </a:rPr>
              <a:t>Exfiltrated investor portfolios, financial logs, and clearing records.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2626"/>
                </a:solidFill>
                <a:latin typeface="Arial"/>
              </a:rPr>
              <a:t>IV. Impact &amp; Demand: </a:t>
            </a:r>
            <a:r>
              <a:rPr sz="950">
                <a:solidFill>
                  <a:srgbClr val="0F172A"/>
                </a:solidFill>
                <a:latin typeface="Arial"/>
              </a:rPr>
              <a:t>Encrypted core trading databases, forcing a national stock market shutdown.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486400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ANALYSIS &amp;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62272"/>
            <a:ext cx="52120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DC2626"/>
                </a:solidFill>
              </a:rPr>
              <a:t>ATTACKER CLAIMS: </a:t>
            </a:r>
            <a:r>
              <a:rPr sz="900">
                <a:solidFill>
                  <a:srgbClr val="0F172A"/>
                </a:solidFill>
              </a:rPr>
              <a:t>Threat actors claimed complete data center compromise, threatening public leak.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08A52"/>
                </a:solidFill>
              </a:rPr>
              <a:t>OFFICIAL STATEMENT: </a:t>
            </a:r>
            <a:r>
              <a:rPr sz="900">
                <a:solidFill>
                  <a:srgbClr val="0F172A"/>
                </a:solidFill>
              </a:rPr>
              <a:t>Exchange authorities confirmed major incident and suspended all trading/settlement.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IMPACT ASSESSMENT: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Immediate paralysis of national trading, clearing, and capital settlement systems.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Severe exposure of investor records, transaction histories, and market data.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High regulatory fallout, exposing vulnerabilities in shared central infrastructure.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02336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4023360"/>
            <a:ext cx="54864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LESSONS LEARNED &amp;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462272"/>
            <a:ext cx="52120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DATA CENTER SEGREGATION: </a:t>
            </a:r>
            <a:r>
              <a:rPr sz="900">
                <a:solidFill>
                  <a:srgbClr val="0F172A"/>
                </a:solidFill>
                <a:latin typeface="Arial"/>
              </a:rPr>
              <a:t>Isolate core trading engines from shared corporate networks via micro-segmentation.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IMMUTABLE BACKUP VAULTS: </a:t>
            </a:r>
            <a:r>
              <a:rPr sz="900">
                <a:solidFill>
                  <a:srgbClr val="0F172A"/>
                </a:solidFill>
                <a:latin typeface="Arial"/>
              </a:rPr>
              <a:t>Maintain air-gapped, immutable backups of transactional ledgers for rapid restoration.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THIRD-PARTY ASSURANCE: </a:t>
            </a:r>
            <a:r>
              <a:rPr sz="900">
                <a:solidFill>
                  <a:srgbClr val="0F172A"/>
                </a:solidFill>
                <a:latin typeface="Arial"/>
              </a:rPr>
              <a:t>Enforce continuous security audits and zero-trust controls for hosted ICT providers.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SYSTEMIC DISASTER RECOVERY: </a:t>
            </a:r>
            <a:r>
              <a:rPr sz="900">
                <a:solidFill>
                  <a:srgbClr val="0F172A"/>
                </a:solidFill>
                <a:latin typeface="Arial"/>
              </a:rPr>
              <a:t>Conduct multi-stakeholder drills specifically modeling full market halt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8A52"/>
                </a:solidFill>
                <a:latin typeface="Arial"/>
              </a:defRPr>
            </a:pPr>
            <a:r>
              <a:t>BNP PARIBAS | GROUP CTI &amp; EMERGING TECH RISKS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SLIDE 3: EXTERNAL THREAT LANDSCAPE &amp; STRATEGIC 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5400"/>
          </a:xfrm>
          <a:prstGeom prst="rect">
            <a:avLst/>
          </a:prstGeom>
          <a:solidFill>
            <a:srgbClr val="00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29184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29184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1. KEY THREAT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73352"/>
            <a:ext cx="3072384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50">
                <a:solidFill>
                  <a:srgbClr val="DC2626"/>
                </a:solidFill>
              </a:defRPr>
            </a:pPr>
            <a:r>
              <a:t>A. THREAT ACTORS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Multi-tenant vendor concentration risk exposing multiple FIs.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Geopolitical state actors leveraging hybrid cyber &amp; hacktivism.</a:t>
            </a:r>
          </a:p>
          <a:p>
            <a:pPr>
              <a:spcBef>
                <a:spcPts val="400"/>
              </a:spcBef>
            </a:pPr>
          </a:p>
          <a:p>
            <a:pPr>
              <a:defRPr b="1" sz="950">
                <a:solidFill>
                  <a:srgbClr val="008A52"/>
                </a:solidFill>
              </a:defRPr>
            </a:pPr>
            <a:r>
              <a:t>B. AI ATTACK EVOLUTION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Self-replicating prompt injection &amp; rogue enterprise agents.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Autonomous agents siphoning enterprise code &amp; credentials.</a:t>
            </a:r>
          </a:p>
          <a:p>
            <a:pPr>
              <a:spcBef>
                <a:spcPts val="400"/>
              </a:spcBef>
            </a:pPr>
          </a:p>
          <a:p>
            <a:pPr>
              <a:defRPr b="1" sz="950">
                <a:solidFill>
                  <a:srgbClr val="D97706"/>
                </a:solidFill>
              </a:defRPr>
            </a:pPr>
            <a:r>
              <a:t>C. REGULATORY LANDSCAPE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Final EBA Guidelines on Third-Party Risk Management.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EU Cyber Resilience Act (CRA) mandatory reporting in force.</a:t>
            </a:r>
          </a:p>
          <a:p>
            <a:pPr>
              <a:spcBef>
                <a:spcPts val="400"/>
              </a:spcBef>
            </a:pPr>
          </a:p>
          <a:p>
            <a:pPr>
              <a:defRPr b="1" sz="950">
                <a:solidFill>
                  <a:srgbClr val="2563EB"/>
                </a:solidFill>
              </a:defRPr>
            </a:pPr>
            <a:r>
              <a:t>D. OPERATIONAL RISK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Zero-day edge infrastructure exploitation (Citrix NetScaler).</a:t>
            </a:r>
          </a:p>
          <a:p>
            <a:pPr>
              <a:spcAft>
                <a:spcPts val="200"/>
              </a:spcAft>
              <a:defRPr sz="850">
                <a:solidFill>
                  <a:srgbClr val="64748B"/>
                </a:solidFill>
              </a:defRPr>
            </a:pPr>
            <a:r>
              <a:t>• Identity governance gaps in non-human identities (NHI).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95344" y="1234440"/>
            <a:ext cx="42976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95344" y="1234440"/>
            <a:ext cx="4297680" cy="384048"/>
          </a:xfrm>
          <a:prstGeom prst="roundRect">
            <a:avLst/>
          </a:prstGeom>
          <a:solidFill>
            <a:srgbClr val="00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2. EVIDENCE MATERIALISING (SEPTEMBER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1673352"/>
            <a:ext cx="4078224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900">
                <a:solidFill>
                  <a:srgbClr val="0F172A"/>
                </a:solidFill>
              </a:rPr>
              <a:t>1. Citrix NetScaler Zero-Day Bank Exploitation: </a:t>
            </a:r>
            <a:r>
              <a:rPr sz="850">
                <a:solidFill>
                  <a:srgbClr val="64748B"/>
                </a:solidFill>
              </a:rPr>
              <a:t>Unauthenticated zero-day attacks maintained undetected access in global banks. </a:t>
            </a:r>
            <a:r>
              <a:rPr b="1" sz="850">
                <a:solidFill>
                  <a:srgbClr val="008A52"/>
                </a:solidFill>
              </a:rPr>
              <a:t>[A1, D1]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F172A"/>
                </a:solidFill>
              </a:rPr>
              <a:t>2. EBA Final Guidelines on Third-Party Risk: </a:t>
            </a:r>
            <a:r>
              <a:rPr sz="850">
                <a:solidFill>
                  <a:srgbClr val="64748B"/>
                </a:solidFill>
              </a:rPr>
              <a:t>EBA published final binding rules for vendor risk &amp; concentration controls. </a:t>
            </a:r>
            <a:r>
              <a:rPr b="1" sz="850">
                <a:solidFill>
                  <a:srgbClr val="008A52"/>
                </a:solidFill>
              </a:rPr>
              <a:t>[C1, C2]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F172A"/>
                </a:solidFill>
              </a:rPr>
              <a:t>3. Nepal Stock Market Ransomware Shutdown: </a:t>
            </a:r>
            <a:r>
              <a:rPr sz="850">
                <a:solidFill>
                  <a:srgbClr val="64748B"/>
                </a:solidFill>
              </a:rPr>
              <a:t>Data center attack forced multi-day shutdown of exchange &amp; clearing systems. </a:t>
            </a:r>
            <a:r>
              <a:rPr b="1" sz="850">
                <a:solidFill>
                  <a:srgbClr val="008A52"/>
                </a:solidFill>
              </a:rPr>
              <a:t>[A1, D1, D2]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F172A"/>
                </a:solidFill>
              </a:rPr>
              <a:t>4. OpenAI Self-Replicating Agent Safety Halt: </a:t>
            </a:r>
            <a:r>
              <a:rPr sz="850">
                <a:solidFill>
                  <a:srgbClr val="64748B"/>
                </a:solidFill>
              </a:rPr>
              <a:t>OpenAI halted GPT-6.1 Astra release due to self-replicating prompt injection risks. </a:t>
            </a:r>
            <a:r>
              <a:rPr b="1" sz="850">
                <a:solidFill>
                  <a:srgbClr val="008A52"/>
                </a:solidFill>
              </a:rPr>
              <a:t>[B1, B2]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F172A"/>
                </a:solidFill>
              </a:rPr>
              <a:t>5. EU Cyber Resilience Act (CRA) Enforcement: </a:t>
            </a:r>
            <a:r>
              <a:rPr sz="850">
                <a:solidFill>
                  <a:srgbClr val="64748B"/>
                </a:solidFill>
              </a:rPr>
              <a:t>Phase 1 mandatory vulnerability and incident reporting officially took effect. </a:t>
            </a:r>
            <a:r>
              <a:rPr b="1" sz="850">
                <a:solidFill>
                  <a:srgbClr val="008A52"/>
                </a:solidFill>
              </a:rPr>
              <a:t>[C1, C2]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F172A"/>
                </a:solidFill>
              </a:rPr>
              <a:t>6. Google &amp; Thales Agentic AI Defense Partnering: </a:t>
            </a:r>
            <a:r>
              <a:rPr sz="850">
                <a:solidFill>
                  <a:srgbClr val="64748B"/>
                </a:solidFill>
              </a:rPr>
              <a:t>Deployed specialized cybersecurity AI agents to protect enterprise agentic workflows. </a:t>
            </a:r>
            <a:r>
              <a:rPr b="1" sz="850">
                <a:solidFill>
                  <a:srgbClr val="008A52"/>
                </a:solidFill>
              </a:rPr>
              <a:t>[B2, D1]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9328" y="1234440"/>
            <a:ext cx="33832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39328" y="1234440"/>
            <a:ext cx="33832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3. STRATEGIC IMPLICATIONS &amp;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1673352"/>
            <a:ext cx="3163824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00">
                <a:solidFill>
                  <a:srgbClr val="2563EB"/>
                </a:solidFill>
              </a:defRPr>
            </a:pPr>
            <a:r>
              <a:t>GOVERN AGENTIC AI &amp; MACHINE IDENTITIES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Implement AI guardrails to prevent prompt injections in agentic workflows.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Establish NHI registry enforcing strict least-privilege &amp; API key rotation.</a:t>
            </a:r>
          </a:p>
          <a:p>
            <a:pPr>
              <a:spcBef>
                <a:spcPts val="300"/>
              </a:spcBef>
            </a:pPr>
          </a:p>
          <a:p>
            <a:pPr>
              <a:defRPr b="1" sz="900">
                <a:solidFill>
                  <a:srgbClr val="2563EB"/>
                </a:solidFill>
              </a:defRPr>
            </a:pPr>
            <a:r>
              <a:t>ENFORCE EBA &amp; DORA THIRD-PARTY COMPLIANCE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Align vendor risk frameworks with EBA rules; mandate field-level encryption.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Establish real-time monitoring of critical ICT providers for concentration risk.</a:t>
            </a:r>
          </a:p>
          <a:p>
            <a:pPr>
              <a:spcBef>
                <a:spcPts val="300"/>
              </a:spcBef>
            </a:pPr>
          </a:p>
          <a:p>
            <a:pPr>
              <a:defRPr b="1" sz="900">
                <a:solidFill>
                  <a:srgbClr val="2563EB"/>
                </a:solidFill>
              </a:defRPr>
            </a:pPr>
            <a:r>
              <a:t>HARDEN EDGE INFRASTRUCTURE &amp; ZERO-DAYS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Accelerate patch SLAs for VPNs/edge appliances against zero-day exploits.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Implement micro-segmentation and anomaly detection to catch lateral movement.</a:t>
            </a:r>
          </a:p>
          <a:p>
            <a:pPr>
              <a:spcBef>
                <a:spcPts val="300"/>
              </a:spcBef>
            </a:pPr>
          </a:p>
          <a:p>
            <a:pPr>
              <a:defRPr b="1" sz="900">
                <a:solidFill>
                  <a:srgbClr val="2563EB"/>
                </a:solidFill>
              </a:defRPr>
            </a:pPr>
            <a:r>
              <a:t>STRENGTHEN IDENTITY &amp; ACCESS GOVERNANCE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Mandate phishing-resistant passwordless MFA (FIDO2) across all portals.</a:t>
            </a:r>
          </a:p>
          <a:p>
            <a:pPr>
              <a:spcAft>
                <a:spcPts val="200"/>
              </a:spcAft>
              <a:defRPr sz="850">
                <a:solidFill>
                  <a:srgbClr val="0F172A"/>
                </a:solidFill>
              </a:defRPr>
            </a:pPr>
            <a:r>
              <a:t>• Deploy real-time detection for anomalous logon sequences and session hijacking.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