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341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20040"/>
            <a:ext cx="11277295" cy="777240"/>
          </a:xfrm>
          <a:prstGeom prst="rect">
            <a:avLst/>
          </a:prstGeom>
          <a:solidFill>
            <a:srgbClr val="0C2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tlCol="0" anchor="ctr"/>
          <a:lstStyle/>
          <a:p>
            <a:pPr algn="ctr">
              <a:defRPr sz="900" b="1">
                <a:solidFill>
                  <a:srgbClr val="00915A"/>
                </a:solidFill>
                <a:latin typeface="Arial"/>
              </a:defRPr>
            </a:pPr>
            <a:r>
              <a:rPr dirty="0"/>
              <a:t>EXECUTIVE CTI THREAT DASHBOARD</a:t>
            </a:r>
          </a:p>
          <a:p>
            <a:pPr>
              <a:defRPr sz="2000" b="1">
                <a:solidFill>
                  <a:srgbClr val="FFFFFF"/>
                </a:solidFill>
                <a:latin typeface="Georgia"/>
              </a:defRPr>
            </a:pPr>
            <a:r>
              <a:rPr dirty="0"/>
              <a:t>CYBER RISK LANDSCAPE — AUGUST 2026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34440"/>
            <a:ext cx="265176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2651760" cy="640080"/>
          </a:xfrm>
          <a:prstGeom prst="rect">
            <a:avLst/>
          </a:prstGeom>
          <a:solidFill>
            <a:srgbClr val="0C2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/>
          <a:lstStyle/>
          <a:p>
            <a:pPr algn="ctr">
              <a:defRPr sz="1000" b="1">
                <a:solidFill>
                  <a:srgbClr val="00915A"/>
                </a:solidFill>
                <a:latin typeface="Arial"/>
              </a:defRPr>
            </a:pPr>
            <a:r>
              <a:t>THE REMEDIATION PARADOX</a:t>
            </a:r>
          </a:p>
          <a:p>
            <a:pPr>
              <a:defRPr sz="750">
                <a:solidFill>
                  <a:srgbClr val="C8D2DC"/>
                </a:solidFill>
                <a:latin typeface="Arial"/>
              </a:defRPr>
            </a:pPr>
            <a:r>
              <a:t>Vulnerability Exploitation vs Patch Velocity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24688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endParaRPr/>
          </a:p>
          <a:p>
            <a:pPr>
              <a:defRPr sz="2000" b="1">
                <a:solidFill>
                  <a:srgbClr val="00915A"/>
                </a:solidFill>
                <a:latin typeface="Arial"/>
              </a:defRPr>
            </a:pPr>
            <a:r>
              <a:t>-7 Days</a:t>
            </a:r>
          </a:p>
          <a:p>
            <a:pPr>
              <a:defRPr sz="850" b="1">
                <a:solidFill>
                  <a:srgbClr val="191E23"/>
                </a:solidFill>
                <a:latin typeface="Arial"/>
              </a:defRPr>
            </a:pPr>
            <a:r>
              <a:t>MEAN TIME TO EXPLOIT</a:t>
            </a:r>
          </a:p>
          <a:p>
            <a:pPr>
              <a:defRPr sz="800">
                <a:solidFill>
                  <a:srgbClr val="505A64"/>
                </a:solidFill>
                <a:latin typeface="Arial"/>
              </a:defRPr>
            </a:pPr>
            <a:r>
              <a:t>Adversaries routinely exploit critical flaws 1 week before a formal vendor patch exists.</a:t>
            </a:r>
          </a:p>
          <a:p>
            <a:pPr>
              <a:defRPr sz="400"/>
            </a:pPr>
            <a:endParaRPr/>
          </a:p>
          <a:p>
            <a:pPr>
              <a:defRPr sz="2000" b="1">
                <a:solidFill>
                  <a:srgbClr val="00915A"/>
                </a:solidFill>
                <a:latin typeface="Arial"/>
              </a:defRPr>
            </a:pPr>
            <a:r>
              <a:t>43 Days</a:t>
            </a:r>
          </a:p>
          <a:p>
            <a:pPr>
              <a:defRPr sz="850" b="1">
                <a:solidFill>
                  <a:srgbClr val="191E23"/>
                </a:solidFill>
                <a:latin typeface="Arial"/>
              </a:defRPr>
            </a:pPr>
            <a:r>
              <a:t>MEDIAN CORPORATE PATCH TIME</a:t>
            </a:r>
          </a:p>
          <a:p>
            <a:pPr>
              <a:defRPr sz="800">
                <a:solidFill>
                  <a:srgbClr val="505A64"/>
                </a:solidFill>
                <a:latin typeface="Arial"/>
              </a:defRPr>
            </a:pPr>
            <a:r>
              <a:t>Average timeframe for financial institutions to remediate vulnerabilities expanded by 34% in 2026.</a:t>
            </a:r>
          </a:p>
          <a:p>
            <a:pPr>
              <a:defRPr sz="400"/>
            </a:pPr>
            <a:endParaRPr/>
          </a:p>
          <a:p>
            <a:pPr>
              <a:defRPr sz="2000" b="1">
                <a:solidFill>
                  <a:srgbClr val="00915A"/>
                </a:solidFill>
                <a:latin typeface="Arial"/>
              </a:defRPr>
            </a:pPr>
            <a:r>
              <a:t>31%</a:t>
            </a:r>
          </a:p>
          <a:p>
            <a:pPr>
              <a:defRPr sz="850" b="1">
                <a:solidFill>
                  <a:srgbClr val="191E23"/>
                </a:solidFill>
                <a:latin typeface="Arial"/>
              </a:defRPr>
            </a:pPr>
            <a:r>
              <a:t>% OF CONFIRMED BREACHES</a:t>
            </a:r>
          </a:p>
          <a:p>
            <a:pPr>
              <a:defRPr sz="800">
                <a:solidFill>
                  <a:srgbClr val="505A64"/>
                </a:solidFill>
                <a:latin typeface="Arial"/>
              </a:defRPr>
            </a:pPr>
            <a:r>
              <a:t>Vulnerability exploitation remains the #1 initial access vector, outpacing credential theft.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28416" y="1234440"/>
            <a:ext cx="265176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328416" y="1234440"/>
            <a:ext cx="2651760" cy="640080"/>
          </a:xfrm>
          <a:prstGeom prst="rect">
            <a:avLst/>
          </a:prstGeom>
          <a:solidFill>
            <a:srgbClr val="0C2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/>
          <a:lstStyle/>
          <a:p>
            <a:pPr algn="ctr">
              <a:defRPr sz="1000" b="1">
                <a:solidFill>
                  <a:srgbClr val="00915A"/>
                </a:solidFill>
                <a:latin typeface="Arial"/>
              </a:defRPr>
            </a:pPr>
            <a:r>
              <a:t>THE EXTORTION ECONOMY</a:t>
            </a:r>
          </a:p>
          <a:p>
            <a:pPr>
              <a:defRPr sz="750">
                <a:solidFill>
                  <a:srgbClr val="C8D2DC"/>
                </a:solidFill>
                <a:latin typeface="Arial"/>
              </a:defRPr>
            </a:pPr>
            <a:r>
              <a:t>Financial Sector Ransomware &amp; Regulatory Pressure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19856" y="1920240"/>
            <a:ext cx="24688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endParaRPr/>
          </a:p>
          <a:p>
            <a:pPr>
              <a:defRPr sz="2000" b="1">
                <a:solidFill>
                  <a:srgbClr val="C32D2D"/>
                </a:solidFill>
                <a:latin typeface="Arial"/>
              </a:defRPr>
            </a:pPr>
            <a:r>
              <a:t>+71%</a:t>
            </a:r>
          </a:p>
          <a:p>
            <a:pPr>
              <a:defRPr sz="850" b="1">
                <a:solidFill>
                  <a:srgbClr val="191E23"/>
                </a:solidFill>
                <a:latin typeface="Arial"/>
              </a:defRPr>
            </a:pPr>
            <a:r>
              <a:t>YOY SPIKE IN FINANCIAL RANSOMWARE</a:t>
            </a:r>
          </a:p>
          <a:p>
            <a:pPr>
              <a:defRPr sz="800">
                <a:solidFill>
                  <a:srgbClr val="505A64"/>
                </a:solidFill>
                <a:latin typeface="Arial"/>
              </a:defRPr>
            </a:pPr>
            <a:r>
              <a:t>Direct extortion campaigns against banking and insurance surging sharply in late summer 2026.</a:t>
            </a:r>
          </a:p>
          <a:p>
            <a:pPr>
              <a:defRPr sz="400"/>
            </a:pPr>
            <a:endParaRPr/>
          </a:p>
          <a:p>
            <a:pPr>
              <a:defRPr sz="2000" b="1">
                <a:solidFill>
                  <a:srgbClr val="C32D2D"/>
                </a:solidFill>
                <a:latin typeface="Arial"/>
              </a:defRPr>
            </a:pPr>
            <a:r>
              <a:t>$6.08M</a:t>
            </a:r>
          </a:p>
          <a:p>
            <a:pPr>
              <a:defRPr sz="850" b="1">
                <a:solidFill>
                  <a:srgbClr val="191E23"/>
                </a:solidFill>
                <a:latin typeface="Arial"/>
              </a:defRPr>
            </a:pPr>
            <a:r>
              <a:t>AVERAGE FINANCIAL BREACH COST</a:t>
            </a:r>
          </a:p>
          <a:p>
            <a:pPr>
              <a:defRPr sz="800">
                <a:solidFill>
                  <a:srgbClr val="505A64"/>
                </a:solidFill>
                <a:latin typeface="Arial"/>
              </a:defRPr>
            </a:pPr>
            <a:r>
              <a:t>Banking data breaches significantly exceed the global multi-sector average of $4.99M.</a:t>
            </a:r>
          </a:p>
          <a:p>
            <a:pPr>
              <a:defRPr sz="600"/>
            </a:pPr>
            <a:endParaRPr/>
          </a:p>
          <a:p>
            <a:pPr>
              <a:defRPr sz="850" b="1">
                <a:solidFill>
                  <a:srgbClr val="C32D2D"/>
                </a:solidFill>
                <a:latin typeface="Arial"/>
              </a:defRPr>
            </a:pPr>
            <a:r>
              <a:t>⚠️ WEAPONIZING REGULATORY COMPLIANCE</a:t>
            </a:r>
          </a:p>
          <a:p>
            <a:pPr>
              <a:defRPr sz="800">
                <a:solidFill>
                  <a:srgbClr val="505A64"/>
                </a:solidFill>
                <a:latin typeface="Arial"/>
              </a:defRPr>
            </a:pPr>
            <a:r>
              <a:t>Extortion syndicates time public leak disclosures to pressure victims during mandatory reporting windows.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234440"/>
            <a:ext cx="265176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9632" y="1234440"/>
            <a:ext cx="2651760" cy="640080"/>
          </a:xfrm>
          <a:prstGeom prst="rect">
            <a:avLst/>
          </a:prstGeom>
          <a:solidFill>
            <a:srgbClr val="0C2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/>
          <a:lstStyle/>
          <a:p>
            <a:pPr algn="ctr">
              <a:defRPr sz="1000" b="1">
                <a:solidFill>
                  <a:srgbClr val="00915A"/>
                </a:solidFill>
                <a:latin typeface="Arial"/>
              </a:defRPr>
            </a:pPr>
            <a:r>
              <a:t>SUPPLY CHAIN &amp; CONCENTRATION</a:t>
            </a:r>
          </a:p>
          <a:p>
            <a:pPr>
              <a:defRPr sz="750">
                <a:solidFill>
                  <a:srgbClr val="C8D2DC"/>
                </a:solidFill>
                <a:latin typeface="Arial"/>
              </a:defRPr>
            </a:pPr>
            <a:r>
              <a:t>Third-Party ICT Vulnerability Exposure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91072" y="1920240"/>
            <a:ext cx="24688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endParaRPr/>
          </a:p>
          <a:p>
            <a:pPr>
              <a:defRPr sz="2000" b="1">
                <a:solidFill>
                  <a:srgbClr val="00915A"/>
                </a:solidFill>
                <a:latin typeface="Arial"/>
              </a:defRPr>
            </a:pPr>
            <a:r>
              <a:t>50.2%</a:t>
            </a:r>
          </a:p>
          <a:p>
            <a:pPr>
              <a:defRPr sz="850" b="1">
                <a:solidFill>
                  <a:srgbClr val="191E23"/>
                </a:solidFill>
                <a:latin typeface="Arial"/>
              </a:defRPr>
            </a:pPr>
            <a:r>
              <a:t>VENDORS CARRY HIGH-SEVERITY RISKS</a:t>
            </a:r>
          </a:p>
          <a:p>
            <a:pPr>
              <a:defRPr sz="800">
                <a:solidFill>
                  <a:srgbClr val="505A64"/>
                </a:solidFill>
                <a:latin typeface="Arial"/>
              </a:defRPr>
            </a:pPr>
            <a:r>
              <a:t>Over half of the financial vendor ecosystem harbors critical vulnerabilities.</a:t>
            </a:r>
          </a:p>
          <a:p>
            <a:pPr>
              <a:defRPr sz="400"/>
            </a:pPr>
            <a:endParaRPr/>
          </a:p>
          <a:p>
            <a:pPr>
              <a:defRPr sz="2000" b="1">
                <a:solidFill>
                  <a:srgbClr val="00915A"/>
                </a:solidFill>
                <a:latin typeface="Arial"/>
              </a:defRPr>
            </a:pPr>
            <a:r>
              <a:t>29%</a:t>
            </a:r>
          </a:p>
          <a:p>
            <a:pPr>
              <a:defRPr sz="850" b="1">
                <a:solidFill>
                  <a:srgbClr val="191E23"/>
                </a:solidFill>
                <a:latin typeface="Arial"/>
              </a:defRPr>
            </a:pPr>
            <a:r>
              <a:t>MAJOR DORA-REPORTED INCIDENTS</a:t>
            </a:r>
          </a:p>
          <a:p>
            <a:pPr>
              <a:defRPr sz="800">
                <a:solidFill>
                  <a:srgbClr val="505A64"/>
                </a:solidFill>
                <a:latin typeface="Arial"/>
              </a:defRPr>
            </a:pPr>
            <a:r>
              <a:t>Nearly 1/3 of systemic operational disruptions stem from third-party ICT provider failures.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91072" y="4754880"/>
          <a:ext cx="24688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C23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Fin. Vendors</a:t>
                      </a:r>
                    </a:p>
                  </a:txBody>
                  <a:tcPr>
                    <a:solidFill>
                      <a:srgbClr val="0C23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Industry</a:t>
                      </a:r>
                    </a:p>
                  </a:txBody>
                  <a:tcPr>
                    <a:solidFill>
                      <a:srgbClr val="0C23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191E23"/>
                          </a:solidFill>
                          <a:latin typeface="Arial"/>
                        </a:defRPr>
                      </a:pPr>
                      <a:r>
                        <a:t>Critical Patch Failures</a:t>
                      </a:r>
                    </a:p>
                  </a:txBody>
                  <a:tcPr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C32D2D"/>
                          </a:solidFill>
                          <a:latin typeface="Arial"/>
                        </a:defRPr>
                      </a:pPr>
                      <a:r>
                        <a:t>78%</a:t>
                      </a:r>
                    </a:p>
                  </a:txBody>
                  <a:tcPr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191E23"/>
                          </a:solidFill>
                          <a:latin typeface="Arial"/>
                        </a:defRPr>
                      </a:pPr>
                      <a:r>
                        <a:t>32%</a:t>
                      </a:r>
                    </a:p>
                  </a:txBody>
                  <a:tcPr>
                    <a:solidFill>
                      <a:srgbClr val="F0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191E23"/>
                          </a:solidFill>
                          <a:latin typeface="Arial"/>
                        </a:defRPr>
                      </a:pPr>
                      <a:r>
                        <a:t>Active KEV Exploitation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C32D2D"/>
                          </a:solidFill>
                          <a:latin typeface="Arial"/>
                        </a:defRPr>
                      </a:pPr>
                      <a:r>
                        <a:t>54%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191E23"/>
                          </a:solidFill>
                          <a:latin typeface="Arial"/>
                        </a:defRPr>
                      </a:pPr>
                      <a:r>
                        <a:t>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9070848" y="1234440"/>
            <a:ext cx="265176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070848" y="1234440"/>
            <a:ext cx="2651760" cy="640080"/>
          </a:xfrm>
          <a:prstGeom prst="rect">
            <a:avLst/>
          </a:prstGeom>
          <a:solidFill>
            <a:srgbClr val="0C2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/>
          <a:lstStyle/>
          <a:p>
            <a:pPr algn="ctr">
              <a:defRPr sz="1000" b="1">
                <a:solidFill>
                  <a:srgbClr val="00915A"/>
                </a:solidFill>
                <a:latin typeface="Arial"/>
              </a:defRPr>
            </a:pPr>
            <a:r>
              <a:t>AUTONOMOUS THREATS</a:t>
            </a:r>
          </a:p>
          <a:p>
            <a:pPr>
              <a:defRPr sz="750">
                <a:solidFill>
                  <a:srgbClr val="C8D2DC"/>
                </a:solidFill>
                <a:latin typeface="Arial"/>
              </a:defRPr>
            </a:pPr>
            <a:r>
              <a:t>Agentic AI &amp; Unmonitored Shadow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62288" y="1920240"/>
            <a:ext cx="24688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endParaRPr/>
          </a:p>
          <a:p>
            <a:pPr>
              <a:defRPr sz="2000" b="1">
                <a:solidFill>
                  <a:srgbClr val="00915A"/>
                </a:solidFill>
                <a:latin typeface="Arial"/>
              </a:defRPr>
            </a:pPr>
            <a:r>
              <a:t>27 Sec</a:t>
            </a:r>
          </a:p>
          <a:p>
            <a:pPr>
              <a:defRPr sz="850" b="1">
                <a:solidFill>
                  <a:srgbClr val="191E23"/>
                </a:solidFill>
                <a:latin typeface="Arial"/>
              </a:defRPr>
            </a:pPr>
            <a:r>
              <a:t>FASTEST BREAKOUT SPEED</a:t>
            </a:r>
          </a:p>
          <a:p>
            <a:pPr>
              <a:defRPr sz="800">
                <a:solidFill>
                  <a:srgbClr val="505A64"/>
                </a:solidFill>
                <a:latin typeface="Arial"/>
              </a:defRPr>
            </a:pPr>
            <a:r>
              <a:t>Time from initial access to automated lateral movement collapsed due to autonomous AI orchestration.</a:t>
            </a:r>
          </a:p>
          <a:p>
            <a:pPr>
              <a:defRPr sz="400"/>
            </a:pPr>
            <a:endParaRPr/>
          </a:p>
          <a:p>
            <a:pPr>
              <a:defRPr sz="2000" b="1">
                <a:solidFill>
                  <a:srgbClr val="00915A"/>
                </a:solidFill>
                <a:latin typeface="Arial"/>
              </a:defRPr>
            </a:pPr>
            <a:r>
              <a:t>43%</a:t>
            </a:r>
          </a:p>
          <a:p>
            <a:pPr>
              <a:defRPr sz="850" b="1">
                <a:solidFill>
                  <a:srgbClr val="191E23"/>
                </a:solidFill>
                <a:latin typeface="Arial"/>
              </a:defRPr>
            </a:pPr>
            <a:r>
              <a:t>IMPACTED BY 'SHADOW AI'</a:t>
            </a:r>
          </a:p>
          <a:p>
            <a:pPr>
              <a:defRPr sz="800">
                <a:solidFill>
                  <a:srgbClr val="505A64"/>
                </a:solidFill>
                <a:latin typeface="Arial"/>
              </a:defRPr>
            </a:pPr>
            <a:r>
              <a:t>Unmonitored employee AI usage adds $670K on average in breach containment costs.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20040"/>
            <a:ext cx="11277295" cy="777240"/>
          </a:xfrm>
          <a:prstGeom prst="rect">
            <a:avLst/>
          </a:prstGeom>
          <a:solidFill>
            <a:srgbClr val="0C2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tlCol="0" anchor="ctr"/>
          <a:lstStyle/>
          <a:p>
            <a:pPr algn="ctr">
              <a:defRPr sz="900" b="1">
                <a:solidFill>
                  <a:srgbClr val="00915A"/>
                </a:solidFill>
                <a:latin typeface="Arial"/>
              </a:defRPr>
            </a:pPr>
            <a:r>
              <a:rPr dirty="0"/>
              <a:t>AUGUST 2026 MAJOR INCIDENT ANALYSIS</a:t>
            </a:r>
          </a:p>
          <a:p>
            <a:pPr>
              <a:defRPr sz="2000" b="1">
                <a:solidFill>
                  <a:srgbClr val="FFFFFF"/>
                </a:solidFill>
                <a:latin typeface="Georgia"/>
              </a:defRPr>
            </a:pPr>
            <a:r>
              <a:rPr dirty="0"/>
              <a:t>CYBER CASE STUDY: ORIGIN ENERGY BREACH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34440"/>
            <a:ext cx="539496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5394960" cy="411480"/>
          </a:xfrm>
          <a:prstGeom prst="rect">
            <a:avLst/>
          </a:prstGeom>
          <a:solidFill>
            <a:srgbClr val="0C2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73152" rtlCol="0" anchor="ctr"/>
          <a:lstStyle/>
          <a:p>
            <a:pPr algn="ctr">
              <a:defRPr sz="1100" b="1">
                <a:solidFill>
                  <a:srgbClr val="00915A"/>
                </a:solidFill>
                <a:latin typeface="Arial"/>
              </a:defRPr>
            </a:pPr>
            <a:r>
              <a:t>1. INCIDENT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9164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r>
              <a:rPr sz="950" b="1">
                <a:solidFill>
                  <a:srgbClr val="191E23"/>
                </a:solidFill>
                <a:latin typeface="Arial"/>
              </a:rPr>
              <a:t>• TARGET: </a:t>
            </a:r>
            <a:r>
              <a:rPr sz="950">
                <a:solidFill>
                  <a:srgbClr val="505A64"/>
                </a:solidFill>
                <a:latin typeface="Arial"/>
              </a:rPr>
              <a:t>Origin Energy (Financial &amp; Billing Services Provider)</a:t>
            </a:r>
          </a:p>
          <a:p>
            <a:pPr>
              <a:defRPr sz="200"/>
            </a:pPr>
            <a:endParaRPr sz="950">
              <a:solidFill>
                <a:srgbClr val="505A64"/>
              </a:solidFill>
              <a:latin typeface="Arial"/>
            </a:endParaRPr>
          </a:p>
          <a:p>
            <a:r>
              <a:rPr sz="950" b="1">
                <a:solidFill>
                  <a:srgbClr val="191E23"/>
                </a:solidFill>
                <a:latin typeface="Arial"/>
              </a:rPr>
              <a:t>• DATE: </a:t>
            </a:r>
            <a:r>
              <a:rPr sz="950">
                <a:solidFill>
                  <a:srgbClr val="505A64"/>
                </a:solidFill>
                <a:latin typeface="Arial"/>
              </a:rPr>
              <a:t>August 2026</a:t>
            </a:r>
          </a:p>
          <a:p>
            <a:pPr>
              <a:defRPr sz="200"/>
            </a:pPr>
            <a:endParaRPr sz="950">
              <a:solidFill>
                <a:srgbClr val="505A64"/>
              </a:solidFill>
              <a:latin typeface="Arial"/>
            </a:endParaRPr>
          </a:p>
          <a:p>
            <a:r>
              <a:rPr sz="950" b="1">
                <a:solidFill>
                  <a:srgbClr val="191E23"/>
                </a:solidFill>
                <a:latin typeface="Arial"/>
              </a:rPr>
              <a:t>• THREAT ACTOR: </a:t>
            </a:r>
            <a:r>
              <a:rPr sz="950">
                <a:solidFill>
                  <a:srgbClr val="505A64"/>
                </a:solidFill>
                <a:latin typeface="Arial"/>
              </a:rPr>
              <a:t>Unattributed Cybercrime Syndicate</a:t>
            </a:r>
          </a:p>
          <a:p>
            <a:pPr>
              <a:defRPr sz="200"/>
            </a:pPr>
            <a:endParaRPr sz="950">
              <a:solidFill>
                <a:srgbClr val="505A64"/>
              </a:solidFill>
              <a:latin typeface="Arial"/>
            </a:endParaRPr>
          </a:p>
          <a:p>
            <a:r>
              <a:rPr sz="950" b="1">
                <a:solidFill>
                  <a:srgbClr val="191E23"/>
                </a:solidFill>
                <a:latin typeface="Arial"/>
              </a:rPr>
              <a:t>• ATTACK TYPE: </a:t>
            </a:r>
            <a:r>
              <a:rPr sz="950">
                <a:solidFill>
                  <a:srgbClr val="505A64"/>
                </a:solidFill>
                <a:latin typeface="Arial"/>
              </a:rPr>
              <a:t>Supply Chain &amp; Third-Party Financial Credential Harvesting</a:t>
            </a:r>
          </a:p>
          <a:p>
            <a:pPr>
              <a:defRPr sz="200"/>
            </a:pPr>
            <a:endParaRPr sz="950">
              <a:solidFill>
                <a:srgbClr val="505A64"/>
              </a:solidFill>
              <a:latin typeface="Arial"/>
            </a:endParaRPr>
          </a:p>
          <a:p>
            <a:r>
              <a:rPr sz="950" b="1">
                <a:solidFill>
                  <a:srgbClr val="191E23"/>
                </a:solidFill>
                <a:latin typeface="Arial"/>
              </a:rPr>
              <a:t>• RECORDS IMPACTED: </a:t>
            </a:r>
            <a:r>
              <a:rPr sz="950">
                <a:solidFill>
                  <a:srgbClr val="505A64"/>
                </a:solidFill>
                <a:latin typeface="Arial"/>
              </a:rPr>
              <a:t>900,000 Financial Accounts &amp; Customer Identifiers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65215" y="1234440"/>
            <a:ext cx="566928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65215" y="1234440"/>
            <a:ext cx="5669280" cy="411480"/>
          </a:xfrm>
          <a:prstGeom prst="rect">
            <a:avLst/>
          </a:prstGeom>
          <a:solidFill>
            <a:srgbClr val="0C2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73152" rtlCol="0" anchor="ctr"/>
          <a:lstStyle/>
          <a:p>
            <a:pPr algn="ctr">
              <a:defRPr sz="1100" b="1">
                <a:solidFill>
                  <a:srgbClr val="00915A"/>
                </a:solidFill>
                <a:latin typeface="Arial"/>
              </a:defRPr>
            </a:pPr>
            <a:r>
              <a:t>2. ATTACK CHAIN (KILL CHAIN)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02375" y="1691640"/>
            <a:ext cx="5394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r>
              <a:rPr sz="900" b="1">
                <a:solidFill>
                  <a:srgbClr val="00915A"/>
                </a:solidFill>
                <a:latin typeface="Arial"/>
              </a:rPr>
              <a:t>I. INITIAL ACCESS: </a:t>
            </a:r>
            <a:r>
              <a:rPr sz="850">
                <a:solidFill>
                  <a:srgbClr val="505A64"/>
                </a:solidFill>
                <a:latin typeface="Arial"/>
              </a:rPr>
              <a:t>Compromised third-party vendor environment utilizing stolen service credentials.</a:t>
            </a:r>
          </a:p>
          <a:p>
            <a:pPr>
              <a:defRPr sz="200"/>
            </a:pPr>
            <a:endParaRPr sz="850">
              <a:solidFill>
                <a:srgbClr val="505A64"/>
              </a:solidFill>
              <a:latin typeface="Arial"/>
            </a:endParaRPr>
          </a:p>
          <a:p>
            <a:r>
              <a:rPr sz="900" b="1">
                <a:solidFill>
                  <a:srgbClr val="00915A"/>
                </a:solidFill>
                <a:latin typeface="Arial"/>
              </a:rPr>
              <a:t>II. LATERAL MOVEMENT: </a:t>
            </a:r>
            <a:r>
              <a:rPr sz="850">
                <a:solidFill>
                  <a:srgbClr val="505A64"/>
                </a:solidFill>
                <a:latin typeface="Arial"/>
              </a:rPr>
              <a:t>Pivoted from vendor platform into shared billing databases containing customer financial profiles.</a:t>
            </a:r>
          </a:p>
          <a:p>
            <a:pPr>
              <a:defRPr sz="200"/>
            </a:pPr>
            <a:endParaRPr sz="850">
              <a:solidFill>
                <a:srgbClr val="505A64"/>
              </a:solidFill>
              <a:latin typeface="Arial"/>
            </a:endParaRPr>
          </a:p>
          <a:p>
            <a:r>
              <a:rPr sz="900" b="1">
                <a:solidFill>
                  <a:srgbClr val="00915A"/>
                </a:solidFill>
                <a:latin typeface="Arial"/>
              </a:rPr>
              <a:t>III. DATA EXFILTRATION: </a:t>
            </a:r>
            <a:r>
              <a:rPr sz="850">
                <a:solidFill>
                  <a:srgbClr val="505A64"/>
                </a:solidFill>
                <a:latin typeface="Arial"/>
              </a:rPr>
              <a:t>Complete bank account details, national IDs, and payment records for 900,000 customers harvested.</a:t>
            </a:r>
          </a:p>
          <a:p>
            <a:pPr>
              <a:defRPr sz="200"/>
            </a:pPr>
            <a:endParaRPr sz="850">
              <a:solidFill>
                <a:srgbClr val="505A64"/>
              </a:solidFill>
              <a:latin typeface="Arial"/>
            </a:endParaRPr>
          </a:p>
          <a:p>
            <a:r>
              <a:rPr sz="900" b="1">
                <a:solidFill>
                  <a:srgbClr val="00915A"/>
                </a:solidFill>
                <a:latin typeface="Arial"/>
              </a:rPr>
              <a:t>IV. IMPACT &amp; DEMAND: </a:t>
            </a:r>
            <a:r>
              <a:rPr sz="850">
                <a:solidFill>
                  <a:srgbClr val="505A64"/>
                </a:solidFill>
                <a:latin typeface="Arial"/>
              </a:rPr>
              <a:t>Banking data monetized and exposed on dark web forums, triggering mass regulatory scrutiny.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931920"/>
            <a:ext cx="539496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3931920"/>
            <a:ext cx="5394960" cy="411480"/>
          </a:xfrm>
          <a:prstGeom prst="rect">
            <a:avLst/>
          </a:prstGeom>
          <a:solidFill>
            <a:srgbClr val="0C2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73152" rtlCol="0" anchor="ctr"/>
          <a:lstStyle/>
          <a:p>
            <a:pPr algn="ctr">
              <a:defRPr sz="1100" b="1">
                <a:solidFill>
                  <a:srgbClr val="00915A"/>
                </a:solidFill>
                <a:latin typeface="Arial"/>
              </a:defRPr>
            </a:pPr>
            <a:r>
              <a:t>3. ANALYSIS &amp; RESPONSE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38912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C32D2D"/>
                </a:solidFill>
              </a:rPr>
              <a:t>• ATTACKER CLAIMS: </a:t>
            </a:r>
            <a:r>
              <a:rPr sz="850">
                <a:solidFill>
                  <a:srgbClr val="505A64"/>
                </a:solidFill>
              </a:rPr>
              <a:t>Full exfiltration of sensitive financial &amp; identity records for ~1M accounts.</a:t>
            </a:r>
          </a:p>
          <a:p>
            <a:r>
              <a:rPr sz="900" b="1">
                <a:solidFill>
                  <a:srgbClr val="191E23"/>
                </a:solidFill>
              </a:rPr>
              <a:t>• OFFICIAL STATEMENT: </a:t>
            </a:r>
            <a:r>
              <a:rPr sz="850">
                <a:solidFill>
                  <a:srgbClr val="505A64"/>
                </a:solidFill>
              </a:rPr>
              <a:t>Confirmed vendor breach; issued urgent warnings regarding potential banking fraud.</a:t>
            </a:r>
          </a:p>
          <a:p>
            <a:pPr>
              <a:defRPr sz="900" b="1">
                <a:solidFill>
                  <a:srgbClr val="191E23"/>
                </a:solidFill>
              </a:defRPr>
            </a:pPr>
            <a:r>
              <a:t>• IMPACT ASSESSMENT:</a:t>
            </a:r>
          </a:p>
          <a:p>
            <a:pPr>
              <a:defRPr sz="800">
                <a:solidFill>
                  <a:srgbClr val="505A64"/>
                </a:solidFill>
              </a:defRPr>
            </a:pPr>
            <a:r>
              <a:t>    - Direct compromise of customer bank account numbers &amp; government IDs enabling ATO fraud.</a:t>
            </a:r>
          </a:p>
          <a:p>
            <a:pPr>
              <a:defRPr sz="800">
                <a:solidFill>
                  <a:srgbClr val="505A64"/>
                </a:solidFill>
              </a:defRPr>
            </a:pPr>
            <a:r>
              <a:t>    - High risk of downstream financial fraud, including unauthorized direct debits &amp; vishing.</a:t>
            </a:r>
          </a:p>
          <a:p>
            <a:pPr>
              <a:defRPr sz="800">
                <a:solidFill>
                  <a:srgbClr val="505A64"/>
                </a:solidFill>
              </a:defRPr>
            </a:pPr>
            <a:r>
              <a:t>    - Elevated regulatory liability and class-action exposure under strict customer data mandates.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65215" y="3931920"/>
            <a:ext cx="566928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065215" y="3931920"/>
            <a:ext cx="5669280" cy="411480"/>
          </a:xfrm>
          <a:prstGeom prst="rect">
            <a:avLst/>
          </a:prstGeom>
          <a:solidFill>
            <a:srgbClr val="0C2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73152" rtlCol="0" anchor="ctr"/>
          <a:lstStyle/>
          <a:p>
            <a:pPr algn="ctr">
              <a:defRPr sz="1100" b="1">
                <a:solidFill>
                  <a:srgbClr val="00915A"/>
                </a:solidFill>
                <a:latin typeface="Arial"/>
              </a:defRPr>
            </a:pPr>
            <a:r>
              <a:t>4. LESSONS LEARNED &amp; RECOMMENDATIONS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2375" y="4389120"/>
            <a:ext cx="5394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r>
              <a:rPr sz="850" b="1">
                <a:solidFill>
                  <a:srgbClr val="00915A"/>
                </a:solidFill>
              </a:rPr>
              <a:t>✔ VENDOR TOKENIZATION MANDATE: </a:t>
            </a:r>
            <a:r>
              <a:rPr sz="800">
                <a:solidFill>
                  <a:srgbClr val="505A64"/>
                </a:solidFill>
              </a:rPr>
              <a:t>Require third-party processors to store tokenized payment identifiers rather than raw bank details.</a:t>
            </a:r>
          </a:p>
          <a:p>
            <a:pPr>
              <a:defRPr sz="200"/>
            </a:pPr>
            <a:endParaRPr sz="800">
              <a:solidFill>
                <a:srgbClr val="505A64"/>
              </a:solidFill>
            </a:endParaRPr>
          </a:p>
          <a:p>
            <a:r>
              <a:rPr sz="850" b="1">
                <a:solidFill>
                  <a:srgbClr val="00915A"/>
                </a:solidFill>
              </a:rPr>
              <a:t>✔ API ZERO TRUST ENFORCEMENT: </a:t>
            </a:r>
            <a:r>
              <a:rPr sz="800">
                <a:solidFill>
                  <a:srgbClr val="505A64"/>
                </a:solidFill>
              </a:rPr>
              <a:t>Implement continuous machine-identity verification and rate limiting on external billing platform APIs.</a:t>
            </a:r>
          </a:p>
          <a:p>
            <a:pPr>
              <a:defRPr sz="200"/>
            </a:pPr>
            <a:endParaRPr sz="800">
              <a:solidFill>
                <a:srgbClr val="505A64"/>
              </a:solidFill>
            </a:endParaRPr>
          </a:p>
          <a:p>
            <a:r>
              <a:rPr sz="850" b="1">
                <a:solidFill>
                  <a:srgbClr val="00915A"/>
                </a:solidFill>
              </a:rPr>
              <a:t>✔ FIELD-LEVEL DATA ENCRYPTION: </a:t>
            </a:r>
            <a:r>
              <a:rPr sz="800">
                <a:solidFill>
                  <a:srgbClr val="505A64"/>
                </a:solidFill>
              </a:rPr>
              <a:t>Enforce persistent field-level encryption for sensitive PII and financial records at rest and in transit.</a:t>
            </a:r>
          </a:p>
          <a:p>
            <a:pPr>
              <a:defRPr sz="200"/>
            </a:pPr>
            <a:endParaRPr sz="800">
              <a:solidFill>
                <a:srgbClr val="505A64"/>
              </a:solidFill>
            </a:endParaRPr>
          </a:p>
          <a:p>
            <a:r>
              <a:rPr sz="850" b="1">
                <a:solidFill>
                  <a:srgbClr val="00915A"/>
                </a:solidFill>
              </a:rPr>
              <a:t>✔ REAL-TIME FRAUD MONITORING: </a:t>
            </a:r>
            <a:r>
              <a:rPr sz="800">
                <a:solidFill>
                  <a:srgbClr val="505A64"/>
                </a:solidFill>
              </a:rPr>
              <a:t>Deploy automated anomaly detection on customer accounts to flag unusual debit or transfer requests post-breach.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20040"/>
            <a:ext cx="11277295" cy="777240"/>
          </a:xfrm>
          <a:prstGeom prst="rect">
            <a:avLst/>
          </a:prstGeom>
          <a:solidFill>
            <a:srgbClr val="0C2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tlCol="0" anchor="ctr"/>
          <a:lstStyle/>
          <a:p>
            <a:pPr algn="ctr">
              <a:defRPr sz="900" b="1">
                <a:solidFill>
                  <a:srgbClr val="00915A"/>
                </a:solidFill>
                <a:latin typeface="Arial"/>
              </a:defRPr>
            </a:pPr>
            <a:r>
              <a:rPr dirty="0"/>
              <a:t>AUGUST 2026 HORIZON MAPPING &amp; PRIORITIES</a:t>
            </a:r>
          </a:p>
          <a:p>
            <a:pPr>
              <a:defRPr sz="2000" b="1">
                <a:solidFill>
                  <a:srgbClr val="FFFFFF"/>
                </a:solidFill>
                <a:latin typeface="Georgia"/>
              </a:defRPr>
            </a:pPr>
            <a:r>
              <a:rPr dirty="0"/>
              <a:t>EXTERNAL THREAT LANDSCAPE &amp; STRATEGIC IMPLICATIONS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34440"/>
            <a:ext cx="338328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3383280" cy="457200"/>
          </a:xfrm>
          <a:prstGeom prst="rect">
            <a:avLst/>
          </a:prstGeom>
          <a:solidFill>
            <a:srgbClr val="0C2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91440" rtlCol="0" anchor="ctr"/>
          <a:lstStyle/>
          <a:p>
            <a:pPr algn="ctr">
              <a:defRPr sz="1050" b="1">
                <a:solidFill>
                  <a:srgbClr val="00915A"/>
                </a:solidFill>
                <a:latin typeface="Arial"/>
              </a:defRPr>
            </a:pPr>
            <a:r>
              <a:t>1. KEY THREAT TRENDS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32004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C32D2D"/>
                </a:solidFill>
              </a:defRPr>
            </a:pPr>
            <a:r>
              <a:t>A. THREAT ACTORS &amp; CAMPAIGNS</a:t>
            </a:r>
          </a:p>
          <a:p>
            <a:pPr>
              <a:defRPr sz="750">
                <a:solidFill>
                  <a:srgbClr val="505A64"/>
                </a:solidFill>
              </a:defRPr>
            </a:pPr>
            <a:r>
              <a:t>Ransomware syndicates (The Gentlemen, Qilin) driving record extortion volumes. Geopolitical state-aligned actors targeting infrastructure.</a:t>
            </a:r>
          </a:p>
          <a:p>
            <a:pPr>
              <a:defRPr sz="400"/>
            </a:pPr>
            <a:endParaRPr/>
          </a:p>
          <a:p>
            <a:pPr>
              <a:defRPr sz="850" b="1">
                <a:solidFill>
                  <a:srgbClr val="1464B4"/>
                </a:solidFill>
              </a:defRPr>
            </a:pPr>
            <a:r>
              <a:t>B. AI ATTACK EVOLUTION</a:t>
            </a:r>
          </a:p>
          <a:p>
            <a:pPr>
              <a:defRPr sz="750">
                <a:solidFill>
                  <a:srgbClr val="505A64"/>
                </a:solidFill>
              </a:defRPr>
            </a:pPr>
            <a:r>
              <a:t>Autonomous AI agents independently executing multi-step attack chains. Weaponization of 'BYOA' models to bypass EDR.</a:t>
            </a:r>
          </a:p>
          <a:p>
            <a:pPr>
              <a:defRPr sz="400"/>
            </a:pPr>
            <a:endParaRPr/>
          </a:p>
          <a:p>
            <a:pPr>
              <a:defRPr sz="850" b="1">
                <a:solidFill>
                  <a:srgbClr val="00915A"/>
                </a:solidFill>
              </a:defRPr>
            </a:pPr>
            <a:r>
              <a:t>C. REGULATORY LANDSCAPE</a:t>
            </a:r>
          </a:p>
          <a:p>
            <a:pPr>
              <a:defRPr sz="750">
                <a:solidFill>
                  <a:srgbClr val="505A64"/>
                </a:solidFill>
              </a:defRPr>
            </a:pPr>
            <a:r>
              <a:t>Joint APRA &amp; ASIC warnings mandating board action on AI risks. Impending enforcement deadlines for EU CRA and DORA.</a:t>
            </a:r>
          </a:p>
          <a:p>
            <a:pPr>
              <a:defRPr sz="400"/>
            </a:pPr>
            <a:endParaRPr/>
          </a:p>
          <a:p>
            <a:pPr>
              <a:defRPr sz="850" b="1">
                <a:solidFill>
                  <a:srgbClr val="D26E0A"/>
                </a:solidFill>
              </a:defRPr>
            </a:pPr>
            <a:r>
              <a:t>D. OPERATIONAL RISK</a:t>
            </a:r>
          </a:p>
          <a:p>
            <a:pPr>
              <a:defRPr sz="750">
                <a:solidFill>
                  <a:srgbClr val="505A64"/>
                </a:solidFill>
              </a:defRPr>
            </a:pPr>
            <a:r>
              <a:t>Extensive data scraping across unhardened ITSM portals (ServiceNow). Identity &amp; Non-Human Identity (NHI) governance gaps.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92270" y="1234440"/>
            <a:ext cx="429768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992270" y="1234440"/>
            <a:ext cx="4297680" cy="457200"/>
          </a:xfrm>
          <a:prstGeom prst="rect">
            <a:avLst/>
          </a:prstGeom>
          <a:solidFill>
            <a:srgbClr val="0C2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91440" rtlCol="0" anchor="ctr"/>
          <a:lstStyle/>
          <a:p>
            <a:pPr algn="ctr">
              <a:defRPr sz="1050" b="1">
                <a:solidFill>
                  <a:srgbClr val="00915A"/>
                </a:solidFill>
                <a:latin typeface="Arial"/>
              </a:defRPr>
            </a:pPr>
            <a:r>
              <a:t>2. EVIDENCE TRENDS ARE MATERIALISING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01998" y="1737360"/>
            <a:ext cx="4078224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r>
              <a:rPr sz="800" b="1">
                <a:solidFill>
                  <a:srgbClr val="191E23"/>
                </a:solidFill>
              </a:rPr>
              <a:t>1. UK AISI Autonomous AI Agent Incident: </a:t>
            </a:r>
            <a:r>
              <a:rPr sz="750">
                <a:solidFill>
                  <a:srgbClr val="505A64"/>
                </a:solidFill>
              </a:rPr>
              <a:t>UK AI Security Institute confirmed autonomous AI agents independently developed unsanctioned attack chains during testing. </a:t>
            </a:r>
            <a:r>
              <a:rPr sz="700" b="1">
                <a:solidFill>
                  <a:srgbClr val="00915A"/>
                </a:solidFill>
              </a:rPr>
              <a:t>[B1, B2, D1]</a:t>
            </a:r>
          </a:p>
          <a:p>
            <a:pPr>
              <a:defRPr sz="300"/>
            </a:pPr>
            <a:endParaRPr sz="700" b="1">
              <a:solidFill>
                <a:srgbClr val="00915A"/>
              </a:solidFill>
            </a:endParaRPr>
          </a:p>
          <a:p>
            <a:r>
              <a:rPr sz="800" b="1">
                <a:solidFill>
                  <a:srgbClr val="191E23"/>
                </a:solidFill>
              </a:rPr>
              <a:t>2. APRA &amp; ASIC Joint AI Risk Directive: </a:t>
            </a:r>
            <a:r>
              <a:rPr sz="750">
                <a:solidFill>
                  <a:srgbClr val="505A64"/>
                </a:solidFill>
              </a:rPr>
              <a:t>Australian financial regulators issued a formal warning requiring boards to translate AI risk awareness into active controls. </a:t>
            </a:r>
            <a:r>
              <a:rPr sz="700" b="1">
                <a:solidFill>
                  <a:srgbClr val="00915A"/>
                </a:solidFill>
              </a:rPr>
              <a:t>[C1, C2]</a:t>
            </a:r>
          </a:p>
          <a:p>
            <a:pPr>
              <a:defRPr sz="300"/>
            </a:pPr>
            <a:endParaRPr sz="700" b="1">
              <a:solidFill>
                <a:srgbClr val="00915A"/>
              </a:solidFill>
            </a:endParaRPr>
          </a:p>
          <a:p>
            <a:r>
              <a:rPr sz="800" b="1">
                <a:solidFill>
                  <a:srgbClr val="191E23"/>
                </a:solidFill>
              </a:rPr>
              <a:t>3. UK Power Generation 4-Day Cyber Outage: </a:t>
            </a:r>
            <a:r>
              <a:rPr sz="750">
                <a:solidFill>
                  <a:srgbClr val="505A64"/>
                </a:solidFill>
              </a:rPr>
              <a:t>State-aligned threat actors hit operational technology networks, forcing a UK energy supplier offline for 4 days. </a:t>
            </a:r>
            <a:r>
              <a:rPr sz="700" b="1">
                <a:solidFill>
                  <a:srgbClr val="00915A"/>
                </a:solidFill>
              </a:rPr>
              <a:t>[A2, D1]</a:t>
            </a:r>
          </a:p>
          <a:p>
            <a:pPr>
              <a:defRPr sz="300"/>
            </a:pPr>
            <a:endParaRPr sz="700" b="1">
              <a:solidFill>
                <a:srgbClr val="00915A"/>
              </a:solidFill>
            </a:endParaRPr>
          </a:p>
          <a:p>
            <a:r>
              <a:rPr sz="800" b="1">
                <a:solidFill>
                  <a:srgbClr val="191E23"/>
                </a:solidFill>
              </a:rPr>
              <a:t>4. ServiceNow Instance Data Scraping: </a:t>
            </a:r>
            <a:r>
              <a:rPr sz="750">
                <a:solidFill>
                  <a:srgbClr val="505A64"/>
                </a:solidFill>
              </a:rPr>
              <a:t>Unauthenticated API vulnerabilities allowed threat actors to query and extract internal support attachments across corporate instances. </a:t>
            </a:r>
            <a:r>
              <a:rPr sz="700" b="1">
                <a:solidFill>
                  <a:srgbClr val="00915A"/>
                </a:solidFill>
              </a:rPr>
              <a:t>[A1, D1, D2]</a:t>
            </a:r>
          </a:p>
          <a:p>
            <a:pPr>
              <a:defRPr sz="300"/>
            </a:pPr>
            <a:endParaRPr sz="700" b="1">
              <a:solidFill>
                <a:srgbClr val="00915A"/>
              </a:solidFill>
            </a:endParaRPr>
          </a:p>
          <a:p>
            <a:r>
              <a:rPr sz="800" b="1">
                <a:solidFill>
                  <a:srgbClr val="191E23"/>
                </a:solidFill>
              </a:rPr>
              <a:t>5. Origin Energy 900K Customer Bank Data Leak: </a:t>
            </a:r>
            <a:r>
              <a:rPr sz="750">
                <a:solidFill>
                  <a:srgbClr val="505A64"/>
                </a:solidFill>
              </a:rPr>
              <a:t>A third-party vendor breach exposed full banking account numbers and national IDs for 900,000 billing customers. </a:t>
            </a:r>
            <a:r>
              <a:rPr sz="700" b="1">
                <a:solidFill>
                  <a:srgbClr val="00915A"/>
                </a:solidFill>
              </a:rPr>
              <a:t>[A1, D2]</a:t>
            </a:r>
          </a:p>
          <a:p>
            <a:pPr>
              <a:defRPr sz="300"/>
            </a:pPr>
            <a:endParaRPr sz="700" b="1">
              <a:solidFill>
                <a:srgbClr val="00915A"/>
              </a:solidFill>
            </a:endParaRPr>
          </a:p>
          <a:p>
            <a:r>
              <a:rPr sz="800" b="1">
                <a:solidFill>
                  <a:srgbClr val="191E23"/>
                </a:solidFill>
              </a:rPr>
              <a:t>6. APT28 Deployment of HookEdge Backdoor: </a:t>
            </a:r>
            <a:r>
              <a:rPr sz="750">
                <a:solidFill>
                  <a:srgbClr val="505A64"/>
                </a:solidFill>
              </a:rPr>
              <a:t>Russian state-aligned actors deployed custom malware targeting European government and financial communication networks. </a:t>
            </a:r>
            <a:r>
              <a:rPr sz="700" b="1">
                <a:solidFill>
                  <a:srgbClr val="00915A"/>
                </a:solidFill>
              </a:rPr>
              <a:t>[A2, C2]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41740" y="1234440"/>
            <a:ext cx="329184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441740" y="1234440"/>
            <a:ext cx="3291840" cy="457200"/>
          </a:xfrm>
          <a:prstGeom prst="rect">
            <a:avLst/>
          </a:prstGeom>
          <a:solidFill>
            <a:srgbClr val="0C2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91440" rtlCol="0" anchor="ctr"/>
          <a:lstStyle/>
          <a:p>
            <a:pPr algn="ctr">
              <a:defRPr sz="1050" b="1">
                <a:solidFill>
                  <a:srgbClr val="00915A"/>
                </a:solidFill>
                <a:latin typeface="Arial"/>
              </a:defRPr>
            </a:pPr>
            <a:r>
              <a:t>3. STRATEGIC PRIORITIES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33180" y="1737360"/>
            <a:ext cx="310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0915A"/>
                </a:solidFill>
              </a:defRPr>
            </a:pPr>
            <a:r>
              <a:t>• GOVERN AGENTIC AI &amp; NHI</a:t>
            </a:r>
          </a:p>
          <a:p>
            <a:pPr>
              <a:defRPr sz="750">
                <a:solidFill>
                  <a:srgbClr val="505A64"/>
                </a:solidFill>
              </a:defRPr>
            </a:pPr>
            <a:r>
              <a:t>   - Deploy runtime AI control layers to restrict autonomous agents from unverified API execution.</a:t>
            </a:r>
          </a:p>
          <a:p>
            <a:pPr>
              <a:defRPr sz="750">
                <a:solidFill>
                  <a:srgbClr val="505A64"/>
                </a:solidFill>
              </a:defRPr>
            </a:pPr>
            <a:r>
              <a:t>   - Establish dynamic registry for non-human identities (NHIs) with automated credential rotation.</a:t>
            </a:r>
          </a:p>
          <a:p>
            <a:pPr>
              <a:defRPr sz="300"/>
            </a:pPr>
            <a:endParaRPr/>
          </a:p>
          <a:p>
            <a:pPr>
              <a:defRPr sz="850" b="1">
                <a:solidFill>
                  <a:srgbClr val="00915A"/>
                </a:solidFill>
              </a:defRPr>
            </a:pPr>
            <a:r>
              <a:t>• HARDEN THIRD-PARTY &amp; SAAS</a:t>
            </a:r>
          </a:p>
          <a:p>
            <a:pPr>
              <a:defRPr sz="750">
                <a:solidFill>
                  <a:srgbClr val="505A64"/>
                </a:solidFill>
              </a:defRPr>
            </a:pPr>
            <a:r>
              <a:t>   - Mandate field-level data encryption &amp; tokenization for all customer data processed by external vendors.</a:t>
            </a:r>
          </a:p>
          <a:p>
            <a:pPr>
              <a:defRPr sz="750">
                <a:solidFill>
                  <a:srgbClr val="505A64"/>
                </a:solidFill>
              </a:defRPr>
            </a:pPr>
            <a:r>
              <a:t>   - Conduct continuous posture monitoring &amp; API security audits across ITSM tools (ServiceNow).</a:t>
            </a:r>
          </a:p>
          <a:p>
            <a:pPr>
              <a:defRPr sz="300"/>
            </a:pPr>
            <a:endParaRPr/>
          </a:p>
          <a:p>
            <a:pPr>
              <a:defRPr sz="850" b="1">
                <a:solidFill>
                  <a:srgbClr val="00915A"/>
                </a:solidFill>
              </a:defRPr>
            </a:pPr>
            <a:r>
              <a:t>• ACCELERATE CRYPTO-AGILITY</a:t>
            </a:r>
          </a:p>
          <a:p>
            <a:pPr>
              <a:defRPr sz="750">
                <a:solidFill>
                  <a:srgbClr val="505A64"/>
                </a:solidFill>
              </a:defRPr>
            </a:pPr>
            <a:r>
              <a:t>   - Automate patch management workflows to eliminate exposed attack surfaces before AI exploit speed.</a:t>
            </a:r>
          </a:p>
          <a:p>
            <a:pPr>
              <a:defRPr sz="750">
                <a:solidFill>
                  <a:srgbClr val="505A64"/>
                </a:solidFill>
              </a:defRPr>
            </a:pPr>
            <a:r>
              <a:t>   - Inventory cryptographic assets &amp; define migration roadmaps toward post-quantum algorithms.</a:t>
            </a:r>
          </a:p>
          <a:p>
            <a:pPr>
              <a:defRPr sz="300"/>
            </a:pPr>
            <a:endParaRPr/>
          </a:p>
          <a:p>
            <a:pPr>
              <a:defRPr sz="850" b="1">
                <a:solidFill>
                  <a:srgbClr val="00915A"/>
                </a:solidFill>
              </a:defRPr>
            </a:pPr>
            <a:r>
              <a:t>• IDENTITY-CENTRIC DEFENSE</a:t>
            </a:r>
          </a:p>
          <a:p>
            <a:pPr>
              <a:defRPr sz="750">
                <a:solidFill>
                  <a:srgbClr val="505A64"/>
                </a:solidFill>
              </a:defRPr>
            </a:pPr>
            <a:r>
              <a:t>   - Enforce phishing-resistant passwordless auth (FIDO2) across all employee &amp; administrative portals.</a:t>
            </a:r>
          </a:p>
          <a:p>
            <a:pPr>
              <a:defRPr sz="750">
                <a:solidFill>
                  <a:srgbClr val="505A64"/>
                </a:solidFill>
              </a:defRPr>
            </a:pPr>
            <a:r>
              <a:t>   - Integrate behavioral anomaly detection to catch quishing &amp; AiTM session hijacking.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1028</Words>
  <Application>Microsoft Office PowerPoint</Application>
  <PresentationFormat>Grand écran</PresentationFormat>
  <Paragraphs>139</Paragraphs>
  <Slides>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Thomas LEON (M2_BREST TC_2025)</cp:lastModifiedBy>
  <cp:revision>2</cp:revision>
  <dcterms:created xsi:type="dcterms:W3CDTF">2013-01-27T09:14:16Z</dcterms:created>
  <dcterms:modified xsi:type="dcterms:W3CDTF">2026-09-21T08:12:22Z</dcterms:modified>
  <cp:category/>
</cp:coreProperties>
</file>